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75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361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87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98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814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5" Type="http://schemas.openxmlformats.org/officeDocument/2006/relationships/image" Target="../media/image3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937760"/>
            <a:ext cx="3291840" cy="3291840"/>
          </a:xfrm>
          <a:prstGeom prst="ellipse">
            <a:avLst/>
          </a:prstGeom>
          <a:solidFill>
            <a:srgbClr val="123A5C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4023360"/>
            <a:ext cx="1371600" cy="1371600"/>
          </a:xfrm>
          <a:prstGeom prst="ellipse">
            <a:avLst/>
          </a:prstGeom>
          <a:solidFill>
            <a:srgbClr val="123A5C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0" y="-822960"/>
            <a:ext cx="2377440" cy="2377440"/>
          </a:xfrm>
          <a:prstGeom prst="ellipse">
            <a:avLst/>
          </a:prstGeom>
          <a:solidFill>
            <a:srgbClr val="123A5C"/>
          </a:solidFill>
          <a:ln/>
        </p:spPr>
      </p:sp>
      <p:pic>
        <p:nvPicPr>
          <p:cNvPr id="5" name="Image 0" descr="assets/microchip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48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DRDO ACADEMIC DEMONSTRATOR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331720"/>
            <a:ext cx="9692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Organizational PC Health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Predictive Maintenance Ecosystem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94360" y="4251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Telemetry-driven anomaly detection, failure-risk forecasting, and semantic repair intelligence — unifying fleet health monitoring with an evidence-based technician recommendation engine.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94360" y="5623560"/>
            <a:ext cx="914400" cy="0"/>
          </a:xfrm>
          <a:prstGeom prst="line">
            <a:avLst/>
          </a:prstGeom>
          <a:noFill/>
          <a:ln w="31750">
            <a:solidFill>
              <a:srgbClr val="0EA5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58064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AI/ML Telemetry Suite   //   Semantic NLP Repair Search   //   FastAPI + React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Complaint to Evidence-Based Resolution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6235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platform to manage and maintain PC assets across departments — integrating predictive telemetry models with a semantic NLP search index over completed repairs. When a technician raises a complaint, the AI diagnoses the signal, retrieves the most similar historical fixes, and synthesizes a recommended action.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17772" y="3411147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942">
                <a:alpha val="12000"/>
              </a:srgbClr>
            </a:outerShdw>
          </a:effectLst>
        </p:spPr>
      </p:sp>
      <p:pic>
        <p:nvPicPr>
          <p:cNvPr id="6" name="Image 0" descr="assets/warning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36027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5935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92679" y="387033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telemetry anomaly &amp; risk scoring across the fleet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805453" y="34290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942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0" name="Image 1" descr="assets/search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243" y="358444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26280" y="360273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069080" y="389819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sensor + complaint-text signals into one assessment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217772" y="5202501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942">
                <a:alpha val="12000"/>
              </a:srgbClr>
            </a:outerShdw>
          </a:effectLst>
        </p:spPr>
      </p:sp>
      <p:pic>
        <p:nvPicPr>
          <p:cNvPr id="14" name="Image 2" descr="assets/clipboard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539496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44880" y="54041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74646" y="56692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top 3 similar past repairs, synthesizes a fix plan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7463188" y="1689244"/>
            <a:ext cx="4608646" cy="3867912"/>
          </a:xfrm>
          <a:prstGeom prst="roundRect">
            <a:avLst>
              <a:gd name="adj" fmla="val 1441"/>
            </a:avLst>
          </a:prstGeom>
          <a:solidFill>
            <a:srgbClr val="0B2942"/>
          </a:solidFill>
          <a:ln/>
          <a:effectLst>
            <a:outerShdw blurRad="127000" dist="38100" dir="5400000" algn="bl" rotWithShape="0">
              <a:srgbClr val="0B2942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8" name="Image 3" descr="assets/route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490" y="1882497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54640" y="19019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Continuous Feedback Loop</a:t>
            </a:r>
            <a:endParaRPr lang="en-US" sz="1650" dirty="0"/>
          </a:p>
        </p:txBody>
      </p:sp>
      <p:sp>
        <p:nvSpPr>
          <p:cNvPr id="20" name="Shape 14"/>
          <p:cNvSpPr/>
          <p:nvPr/>
        </p:nvSpPr>
        <p:spPr>
          <a:xfrm>
            <a:off x="7833974" y="2646021"/>
            <a:ext cx="329184" cy="329184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21" name="Text 15"/>
          <p:cNvSpPr/>
          <p:nvPr/>
        </p:nvSpPr>
        <p:spPr>
          <a:xfrm>
            <a:off x="7833974" y="264602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326209" y="2497931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telemetry streams into SQLite time-series storage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7827197" y="3208377"/>
            <a:ext cx="329184" cy="329184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24" name="Text 18"/>
          <p:cNvSpPr/>
          <p:nvPr/>
        </p:nvSpPr>
        <p:spPr>
          <a:xfrm>
            <a:off x="7827197" y="3208377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8288207" y="307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triggers the AI diagnostic pipeline (/api/analyze)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827197" y="3713719"/>
            <a:ext cx="329184" cy="329184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27" name="Text 21"/>
          <p:cNvSpPr/>
          <p:nvPr/>
        </p:nvSpPr>
        <p:spPr>
          <a:xfrm>
            <a:off x="7827197" y="371371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288207" y="3623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retrieves the 3 closest resolved cases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7833974" y="4215819"/>
            <a:ext cx="329184" cy="329184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30" name="Text 24"/>
          <p:cNvSpPr/>
          <p:nvPr/>
        </p:nvSpPr>
        <p:spPr>
          <a:xfrm>
            <a:off x="7833974" y="421581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288207" y="4106091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confirms the repair and commits the outcome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7825403" y="4761286"/>
            <a:ext cx="329184" cy="329184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33" name="Text 27"/>
          <p:cNvSpPr/>
          <p:nvPr/>
        </p:nvSpPr>
        <p:spPr>
          <a:xfrm>
            <a:off x="7825403" y="476128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8291882" y="4623267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repair is instantly re-indexed for future retrieval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Data Moves Through the Ecosystem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33574" cy="411480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9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31379" y="2286000"/>
            <a:ext cx="768096" cy="768096"/>
          </a:xfrm>
          <a:prstGeom prst="ellipse">
            <a:avLst/>
          </a:prstGeom>
          <a:solidFill>
            <a:srgbClr val="0B2942"/>
          </a:solidFill>
          <a:ln/>
        </p:spPr>
      </p:sp>
      <p:pic>
        <p:nvPicPr>
          <p:cNvPr id="6" name="Image 0" descr="asset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971" y="245059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00400"/>
            <a:ext cx="2259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Data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189349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telemetry stream</a:t>
            </a:r>
            <a:endParaRPr lang="en-US" sz="108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time-series store</a:t>
            </a:r>
            <a:endParaRPr lang="en-US" sz="108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text input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3095930" y="3877056"/>
            <a:ext cx="292608" cy="292608"/>
          </a:xfrm>
          <a:prstGeom prst="ellipse">
            <a:avLst/>
          </a:prstGeom>
          <a:solidFill>
            <a:srgbClr val="F4F7FA"/>
          </a:solidFill>
          <a:ln w="19050">
            <a:solidFill>
              <a:srgbClr val="0EA5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95930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02254" y="1965960"/>
            <a:ext cx="2533574" cy="411480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942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84993" y="2286000"/>
            <a:ext cx="768096" cy="768096"/>
          </a:xfrm>
          <a:prstGeom prst="ellipse">
            <a:avLst/>
          </a:prstGeom>
          <a:solidFill>
            <a:srgbClr val="0B2942"/>
          </a:solidFill>
          <a:ln/>
        </p:spPr>
      </p:sp>
      <p:pic>
        <p:nvPicPr>
          <p:cNvPr id="13" name="Image 1" descr="asset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585" y="2450592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9414" y="3200400"/>
            <a:ext cx="2259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Diagnostic Pipeline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722294" y="3840480"/>
            <a:ext cx="189349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8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+ fusion layer</a:t>
            </a:r>
            <a:endParaRPr lang="en-US" sz="108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· health · RUL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5949544" y="3877056"/>
            <a:ext cx="292608" cy="292608"/>
          </a:xfrm>
          <a:prstGeom prst="ellipse">
            <a:avLst/>
          </a:prstGeom>
          <a:solidFill>
            <a:srgbClr val="F4F7FA"/>
          </a:solidFill>
          <a:ln w="19050">
            <a:solidFill>
              <a:srgbClr val="0E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949544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255868" y="1965960"/>
            <a:ext cx="2533574" cy="411480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942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38607" y="2286000"/>
            <a:ext cx="768096" cy="768096"/>
          </a:xfrm>
          <a:prstGeom prst="ellipse">
            <a:avLst/>
          </a:prstGeom>
          <a:solidFill>
            <a:srgbClr val="0B2942"/>
          </a:solidFill>
          <a:ln/>
        </p:spPr>
      </p:sp>
      <p:pic>
        <p:nvPicPr>
          <p:cNvPr id="20" name="Image 2" descr="assets/sear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199" y="2450592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93028" y="3200400"/>
            <a:ext cx="2259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Retrieval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6575908" y="3840480"/>
            <a:ext cx="189349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embedding</a:t>
            </a:r>
            <a:endParaRPr lang="en-US" sz="108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Cosine-weighted search</a:t>
            </a:r>
            <a:endParaRPr lang="en-US" sz="108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similar repairs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8803157" y="3877056"/>
            <a:ext cx="292608" cy="292608"/>
          </a:xfrm>
          <a:prstGeom prst="ellipse">
            <a:avLst/>
          </a:prstGeom>
          <a:solidFill>
            <a:srgbClr val="F4F7FA"/>
          </a:solidFill>
          <a:ln w="19050">
            <a:solidFill>
              <a:srgbClr val="0EA5A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803157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9109481" y="1965960"/>
            <a:ext cx="2533574" cy="411480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942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992220" y="2286000"/>
            <a:ext cx="768096" cy="76809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7" name="Image 3" descr="assets/clipbo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6812" y="2450592"/>
            <a:ext cx="438912" cy="43891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46641" y="3200400"/>
            <a:ext cx="22592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450" dirty="0"/>
          </a:p>
        </p:txBody>
      </p:sp>
      <p:sp>
        <p:nvSpPr>
          <p:cNvPr id="29" name="Text 23"/>
          <p:cNvSpPr/>
          <p:nvPr/>
        </p:nvSpPr>
        <p:spPr>
          <a:xfrm>
            <a:off x="9429521" y="3840480"/>
            <a:ext cx="189349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fix plan</a:t>
            </a:r>
            <a:endParaRPr lang="en-US" sz="108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 resolution form</a:t>
            </a:r>
            <a:endParaRPr lang="en-US" sz="108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→ DB &amp; re-index</a:t>
            </a:r>
            <a:endParaRPr lang="en-US" sz="1080" dirty="0"/>
          </a:p>
        </p:txBody>
      </p:sp>
      <p:sp>
        <p:nvSpPr>
          <p:cNvPr id="30" name="Text 24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loop: confirmed repairs are committed to the database and CSV, then trigger an incremental update of the embedding index — resolving the originating ticket.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MODULE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Models Working in Concert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7450" cy="1429512"/>
          </a:xfrm>
          <a:prstGeom prst="roundRect">
            <a:avLst>
              <a:gd name="adj" fmla="val 4478"/>
            </a:avLst>
          </a:prstGeom>
          <a:solidFill>
            <a:srgbClr val="123A5C"/>
          </a:solidFill>
          <a:ln/>
        </p:spPr>
      </p:sp>
      <p:pic>
        <p:nvPicPr>
          <p:cNvPr id="5" name="Image 0" descr="assets/cogs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8308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728216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49808" y="2203704"/>
            <a:ext cx="3125114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indicators: TemperatureStress, VoltageDeviation, CoolingEfficiency</a:t>
            </a:r>
            <a:endParaRPr lang="en-US" sz="980" dirty="0"/>
          </a:p>
        </p:txBody>
      </p:sp>
      <p:sp>
        <p:nvSpPr>
          <p:cNvPr id="8" name="Shape 5"/>
          <p:cNvSpPr/>
          <p:nvPr/>
        </p:nvSpPr>
        <p:spPr>
          <a:xfrm>
            <a:off x="4332122" y="1600200"/>
            <a:ext cx="3527450" cy="1429512"/>
          </a:xfrm>
          <a:prstGeom prst="roundRect">
            <a:avLst>
              <a:gd name="adj" fmla="val 4478"/>
            </a:avLst>
          </a:prstGeom>
          <a:solidFill>
            <a:srgbClr val="123A5C"/>
          </a:solidFill>
          <a:ln/>
        </p:spPr>
      </p:sp>
      <p:pic>
        <p:nvPicPr>
          <p:cNvPr id="9" name="Image 1" descr="assets/layers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290" y="178308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953914" y="1728216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Multiclass Problem Classifier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33290" y="2203704"/>
            <a:ext cx="3125114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 over raw telemetry: overheating, memory leak, disk, power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8115605" y="1600200"/>
            <a:ext cx="3527450" cy="1429512"/>
          </a:xfrm>
          <a:prstGeom prst="roundRect">
            <a:avLst>
              <a:gd name="adj" fmla="val 4478"/>
            </a:avLst>
          </a:prstGeom>
          <a:solidFill>
            <a:srgbClr val="123A5C"/>
          </a:solidFill>
          <a:ln/>
        </p:spPr>
      </p:sp>
      <p:pic>
        <p:nvPicPr>
          <p:cNvPr id="13" name="Image 2" descr="assets/search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773" y="1783080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37397" y="1728216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NLP Classifier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8316773" y="2203704"/>
            <a:ext cx="3125114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 on historical complaint text logs</a:t>
            </a:r>
            <a:endParaRPr lang="en-US" sz="980" dirty="0"/>
          </a:p>
        </p:txBody>
      </p:sp>
      <p:sp>
        <p:nvSpPr>
          <p:cNvPr id="16" name="Shape 11"/>
          <p:cNvSpPr/>
          <p:nvPr/>
        </p:nvSpPr>
        <p:spPr>
          <a:xfrm>
            <a:off x="548640" y="3285744"/>
            <a:ext cx="3527450" cy="1429512"/>
          </a:xfrm>
          <a:prstGeom prst="roundRect">
            <a:avLst>
              <a:gd name="adj" fmla="val 4478"/>
            </a:avLst>
          </a:prstGeom>
          <a:solidFill>
            <a:srgbClr val="123A5C"/>
          </a:solidFill>
          <a:ln/>
        </p:spPr>
      </p:sp>
      <p:pic>
        <p:nvPicPr>
          <p:cNvPr id="17" name="Image 3" descr="assets/network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468624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0432" y="3413760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Fusion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749808" y="3889248"/>
            <a:ext cx="3125114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Reconciles sensor vs. NLP predictions into one final assessment</a:t>
            </a:r>
            <a:endParaRPr lang="en-US" sz="980" dirty="0"/>
          </a:p>
        </p:txBody>
      </p:sp>
      <p:sp>
        <p:nvSpPr>
          <p:cNvPr id="20" name="Shape 14"/>
          <p:cNvSpPr/>
          <p:nvPr/>
        </p:nvSpPr>
        <p:spPr>
          <a:xfrm>
            <a:off x="4332122" y="3285744"/>
            <a:ext cx="3527450" cy="1429512"/>
          </a:xfrm>
          <a:prstGeom prst="roundRect">
            <a:avLst>
              <a:gd name="adj" fmla="val 4478"/>
            </a:avLst>
          </a:prstGeom>
          <a:solidFill>
            <a:srgbClr val="123A5C"/>
          </a:solidFill>
          <a:ln/>
        </p:spPr>
      </p:sp>
      <p:pic>
        <p:nvPicPr>
          <p:cNvPr id="21" name="Image 4" descr="assets/warning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3290" y="3468624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53914" y="3413760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533290" y="3889248"/>
            <a:ext cx="3125114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hardware anomalies against normal operating baselines</a:t>
            </a:r>
            <a:endParaRPr lang="en-US" sz="980" dirty="0"/>
          </a:p>
        </p:txBody>
      </p:sp>
      <p:sp>
        <p:nvSpPr>
          <p:cNvPr id="24" name="Shape 17"/>
          <p:cNvSpPr/>
          <p:nvPr/>
        </p:nvSpPr>
        <p:spPr>
          <a:xfrm>
            <a:off x="8115605" y="3285744"/>
            <a:ext cx="3527450" cy="1429512"/>
          </a:xfrm>
          <a:prstGeom prst="roundRect">
            <a:avLst>
              <a:gd name="adj" fmla="val 4478"/>
            </a:avLst>
          </a:prstGeom>
          <a:solidFill>
            <a:srgbClr val="123A5C"/>
          </a:solidFill>
          <a:ln/>
        </p:spPr>
      </p:sp>
      <p:pic>
        <p:nvPicPr>
          <p:cNvPr id="25" name="Image 5" descr="assets/chartline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6773" y="3468624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737397" y="3413760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· Risk · RUL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8316773" y="3889248"/>
            <a:ext cx="3125114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Regressors &amp; classifiers trained on engineered degradation targets</a:t>
            </a:r>
            <a:endParaRPr lang="en-US" sz="980" dirty="0"/>
          </a:p>
        </p:txBody>
      </p:sp>
      <p:sp>
        <p:nvSpPr>
          <p:cNvPr id="28" name="Shape 20"/>
          <p:cNvSpPr/>
          <p:nvPr/>
        </p:nvSpPr>
        <p:spPr>
          <a:xfrm>
            <a:off x="548640" y="4971288"/>
            <a:ext cx="3527450" cy="1429512"/>
          </a:xfrm>
          <a:prstGeom prst="roundRect">
            <a:avLst>
              <a:gd name="adj" fmla="val 4478"/>
            </a:avLst>
          </a:prstGeom>
          <a:solidFill>
            <a:srgbClr val="123A5C"/>
          </a:solidFill>
          <a:ln/>
        </p:spPr>
      </p:sp>
      <p:pic>
        <p:nvPicPr>
          <p:cNvPr id="29" name="Image 6" descr="assets/route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154168"/>
            <a:ext cx="310896" cy="31089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70432" y="5099304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 Forecasting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749808" y="5574792"/>
            <a:ext cx="3125114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over historical telemetry time-series logs</a:t>
            </a:r>
            <a:endParaRPr lang="en-US" sz="980" dirty="0"/>
          </a:p>
        </p:txBody>
      </p:sp>
      <p:sp>
        <p:nvSpPr>
          <p:cNvPr id="32" name="Shape 23"/>
          <p:cNvSpPr/>
          <p:nvPr/>
        </p:nvSpPr>
        <p:spPr>
          <a:xfrm>
            <a:off x="4332122" y="4971288"/>
            <a:ext cx="3527450" cy="1429512"/>
          </a:xfrm>
          <a:prstGeom prst="roundRect">
            <a:avLst>
              <a:gd name="adj" fmla="val 4478"/>
            </a:avLst>
          </a:prstGeom>
          <a:solidFill>
            <a:srgbClr val="123A5C"/>
          </a:solidFill>
          <a:ln/>
        </p:spPr>
      </p:sp>
      <p:pic>
        <p:nvPicPr>
          <p:cNvPr id="33" name="Image 7" descr="assets/brain_te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3290" y="5154168"/>
            <a:ext cx="310896" cy="31089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953914" y="5099304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4533290" y="5574792"/>
            <a:ext cx="3125114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feature attributions scaled by deviation from healthy baseline</a:t>
            </a:r>
            <a:endParaRPr lang="en-US" sz="980" dirty="0"/>
          </a:p>
        </p:txBody>
      </p:sp>
      <p:sp>
        <p:nvSpPr>
          <p:cNvPr id="36" name="Shape 26"/>
          <p:cNvSpPr/>
          <p:nvPr/>
        </p:nvSpPr>
        <p:spPr>
          <a:xfrm>
            <a:off x="8115605" y="4971288"/>
            <a:ext cx="3527450" cy="1429512"/>
          </a:xfrm>
          <a:prstGeom prst="roundRect">
            <a:avLst>
              <a:gd name="adj" fmla="val 4478"/>
            </a:avLst>
          </a:prstGeom>
          <a:solidFill>
            <a:srgbClr val="123A5C"/>
          </a:solidFill>
          <a:ln/>
        </p:spPr>
      </p:sp>
      <p:pic>
        <p:nvPicPr>
          <p:cNvPr id="37" name="Image 8" descr="assets/users_tea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6773" y="5154168"/>
            <a:ext cx="310896" cy="310896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8737397" y="5099304"/>
            <a:ext cx="27044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Fleet Clustering</a:t>
            </a:r>
            <a:endParaRPr lang="en-US" sz="1250" dirty="0"/>
          </a:p>
        </p:txBody>
      </p:sp>
      <p:sp>
        <p:nvSpPr>
          <p:cNvPr id="39" name="Text 28"/>
          <p:cNvSpPr/>
          <p:nvPr/>
        </p:nvSpPr>
        <p:spPr>
          <a:xfrm>
            <a:off x="8316773" y="5574792"/>
            <a:ext cx="3125114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80" dirty="0">
                <a:solidFill>
                  <a:srgbClr val="AEC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segments: Stable, High-Utilization, Elevated-Thermal, Voltage-Instability</a:t>
            </a:r>
            <a:endParaRPr lang="en-US" sz="980" dirty="0"/>
          </a:p>
        </p:txBody>
      </p:sp>
      <p:sp>
        <p:nvSpPr>
          <p:cNvPr id="40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REPAIR INTELLIGENCE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Closest Precedent, Instantly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 history is embedded with SBERT (falling back to a local TF-IDF model offline). Every new complaint is scored against the archive using a weighted cosine-similarity formula across four fields, surfacing the three most relevant completed repairs for the technician.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SIMILARITY WEIGHTING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Text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31720" y="3081528"/>
            <a:ext cx="4206240" cy="256032"/>
          </a:xfrm>
          <a:prstGeom prst="roundRect">
            <a:avLst>
              <a:gd name="adj" fmla="val 14286"/>
            </a:avLst>
          </a:prstGeom>
          <a:solidFill>
            <a:srgbClr val="E3EBF1"/>
          </a:solidFill>
          <a:ln/>
        </p:spPr>
      </p:sp>
      <p:sp>
        <p:nvSpPr>
          <p:cNvPr id="8" name="Shape 6"/>
          <p:cNvSpPr/>
          <p:nvPr/>
        </p:nvSpPr>
        <p:spPr>
          <a:xfrm>
            <a:off x="2331720" y="3081528"/>
            <a:ext cx="2313432" cy="256032"/>
          </a:xfrm>
          <a:prstGeom prst="roundRect">
            <a:avLst>
              <a:gd name="adj" fmla="val 14286"/>
            </a:avLst>
          </a:prstGeom>
          <a:solidFill>
            <a:srgbClr val="0EA5A5"/>
          </a:solidFill>
          <a:ln/>
        </p:spPr>
      </p:sp>
      <p:sp>
        <p:nvSpPr>
          <p:cNvPr id="9" name="Text 7"/>
          <p:cNvSpPr/>
          <p:nvPr/>
        </p:nvSpPr>
        <p:spPr>
          <a:xfrm>
            <a:off x="6922313" y="313639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6301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331720" y="3648456"/>
            <a:ext cx="4206240" cy="256032"/>
          </a:xfrm>
          <a:prstGeom prst="roundRect">
            <a:avLst>
              <a:gd name="adj" fmla="val 14286"/>
            </a:avLst>
          </a:prstGeom>
          <a:solidFill>
            <a:srgbClr val="E3EBF1"/>
          </a:solidFill>
          <a:ln/>
        </p:spPr>
      </p:sp>
      <p:sp>
        <p:nvSpPr>
          <p:cNvPr id="12" name="Shape 10"/>
          <p:cNvSpPr/>
          <p:nvPr/>
        </p:nvSpPr>
        <p:spPr>
          <a:xfrm>
            <a:off x="2331720" y="3648456"/>
            <a:ext cx="841248" cy="256032"/>
          </a:xfrm>
          <a:prstGeom prst="roundRect">
            <a:avLst>
              <a:gd name="adj" fmla="val 14286"/>
            </a:avLst>
          </a:prstGeom>
          <a:solidFill>
            <a:srgbClr val="0EA5A5"/>
          </a:solidFill>
          <a:ln/>
        </p:spPr>
      </p:sp>
      <p:sp>
        <p:nvSpPr>
          <p:cNvPr id="13" name="Text 11"/>
          <p:cNvSpPr/>
          <p:nvPr/>
        </p:nvSpPr>
        <p:spPr>
          <a:xfrm>
            <a:off x="6922313" y="370332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1970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331720" y="4215384"/>
            <a:ext cx="4206240" cy="256032"/>
          </a:xfrm>
          <a:prstGeom prst="roundRect">
            <a:avLst>
              <a:gd name="adj" fmla="val 14286"/>
            </a:avLst>
          </a:prstGeom>
          <a:solidFill>
            <a:srgbClr val="E3EBF1"/>
          </a:solidFill>
          <a:ln/>
        </p:spPr>
      </p:sp>
      <p:sp>
        <p:nvSpPr>
          <p:cNvPr id="16" name="Shape 14"/>
          <p:cNvSpPr/>
          <p:nvPr/>
        </p:nvSpPr>
        <p:spPr>
          <a:xfrm>
            <a:off x="2331720" y="4215384"/>
            <a:ext cx="630936" cy="256032"/>
          </a:xfrm>
          <a:prstGeom prst="roundRect">
            <a:avLst>
              <a:gd name="adj" fmla="val 14286"/>
            </a:avLst>
          </a:prstGeom>
          <a:solidFill>
            <a:srgbClr val="0EA5A5"/>
          </a:solidFill>
          <a:ln/>
        </p:spPr>
      </p:sp>
      <p:sp>
        <p:nvSpPr>
          <p:cNvPr id="17" name="Text 15"/>
          <p:cNvSpPr/>
          <p:nvPr/>
        </p:nvSpPr>
        <p:spPr>
          <a:xfrm>
            <a:off x="6922313" y="427024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76402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331720" y="4782312"/>
            <a:ext cx="4206240" cy="256032"/>
          </a:xfrm>
          <a:prstGeom prst="roundRect">
            <a:avLst>
              <a:gd name="adj" fmla="val 14286"/>
            </a:avLst>
          </a:prstGeom>
          <a:solidFill>
            <a:srgbClr val="E3EBF1"/>
          </a:solidFill>
          <a:ln/>
        </p:spPr>
      </p:sp>
      <p:sp>
        <p:nvSpPr>
          <p:cNvPr id="20" name="Shape 18"/>
          <p:cNvSpPr/>
          <p:nvPr/>
        </p:nvSpPr>
        <p:spPr>
          <a:xfrm>
            <a:off x="2331720" y="4782312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0EA5A5"/>
          </a:solidFill>
          <a:ln/>
        </p:spPr>
      </p:sp>
      <p:sp>
        <p:nvSpPr>
          <p:cNvPr id="21" name="Text 19"/>
          <p:cNvSpPr/>
          <p:nvPr/>
        </p:nvSpPr>
        <p:spPr>
          <a:xfrm>
            <a:off x="6922313" y="483717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665415" y="1371600"/>
            <a:ext cx="4441851" cy="521208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942">
                <a:alpha val="12000"/>
              </a:srgbClr>
            </a:outerShdw>
          </a:effectLst>
        </p:spPr>
      </p:sp>
      <p:pic>
        <p:nvPicPr>
          <p:cNvPr id="23" name="Image 0" descr="assets/databas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345" y="1856232"/>
            <a:ext cx="402336" cy="40233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726985" y="18562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→ Recommendation Flow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7653833" y="2587752"/>
            <a:ext cx="886968" cy="566928"/>
          </a:xfrm>
          <a:prstGeom prst="roundRect">
            <a:avLst>
              <a:gd name="adj" fmla="val 48387"/>
            </a:avLst>
          </a:prstGeom>
          <a:solidFill>
            <a:srgbClr val="0B2942"/>
          </a:solidFill>
          <a:ln/>
        </p:spPr>
      </p:sp>
      <p:sp>
        <p:nvSpPr>
          <p:cNvPr id="26" name="Text 23"/>
          <p:cNvSpPr/>
          <p:nvPr/>
        </p:nvSpPr>
        <p:spPr>
          <a:xfrm>
            <a:off x="7726985" y="2587752"/>
            <a:ext cx="6857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Encode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595665" y="256946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complaint + symptoms converted to a query embedding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7726985" y="3434819"/>
            <a:ext cx="813816" cy="566928"/>
          </a:xfrm>
          <a:prstGeom prst="roundRect">
            <a:avLst>
              <a:gd name="adj" fmla="val 48387"/>
            </a:avLst>
          </a:prstGeom>
          <a:solidFill>
            <a:srgbClr val="0B2942"/>
          </a:solidFill>
          <a:ln/>
        </p:spPr>
      </p:sp>
      <p:sp>
        <p:nvSpPr>
          <p:cNvPr id="29" name="Text 26"/>
          <p:cNvSpPr/>
          <p:nvPr/>
        </p:nvSpPr>
        <p:spPr>
          <a:xfrm>
            <a:off x="7726985" y="3410712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8595665" y="339242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Cosine-weighted match against the repair embedding index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7726985" y="4233672"/>
            <a:ext cx="685800" cy="566928"/>
          </a:xfrm>
          <a:prstGeom prst="roundRect">
            <a:avLst>
              <a:gd name="adj" fmla="val 48387"/>
            </a:avLst>
          </a:prstGeom>
          <a:solidFill>
            <a:srgbClr val="0B2942"/>
          </a:solidFill>
          <a:ln/>
        </p:spPr>
      </p:sp>
      <p:sp>
        <p:nvSpPr>
          <p:cNvPr id="32" name="Text 29"/>
          <p:cNvSpPr/>
          <p:nvPr/>
        </p:nvSpPr>
        <p:spPr>
          <a:xfrm>
            <a:off x="7555687" y="4233672"/>
            <a:ext cx="8570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595665" y="421538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most similar completed repairs surfaced</a:t>
            </a:r>
            <a:endParaRPr lang="en-US" sz="1080" dirty="0"/>
          </a:p>
        </p:txBody>
      </p:sp>
      <p:sp>
        <p:nvSpPr>
          <p:cNvPr id="34" name="Shape 31"/>
          <p:cNvSpPr/>
          <p:nvPr/>
        </p:nvSpPr>
        <p:spPr>
          <a:xfrm>
            <a:off x="7653833" y="5056632"/>
            <a:ext cx="758952" cy="566928"/>
          </a:xfrm>
          <a:prstGeom prst="roundRect">
            <a:avLst>
              <a:gd name="adj" fmla="val 48387"/>
            </a:avLst>
          </a:prstGeom>
          <a:solidFill>
            <a:srgbClr val="0B2942"/>
          </a:solidFill>
          <a:ln/>
        </p:spPr>
      </p:sp>
      <p:sp>
        <p:nvSpPr>
          <p:cNvPr id="35" name="Text 32"/>
          <p:cNvSpPr/>
          <p:nvPr/>
        </p:nvSpPr>
        <p:spPr>
          <a:xfrm>
            <a:off x="7653833" y="5056632"/>
            <a:ext cx="758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595665" y="503834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drafts an evidence-based plan</a:t>
            </a:r>
            <a:endParaRPr lang="en-US" sz="1080" dirty="0"/>
          </a:p>
        </p:txBody>
      </p:sp>
      <p:sp>
        <p:nvSpPr>
          <p:cNvPr id="37" name="Shape 34"/>
          <p:cNvSpPr/>
          <p:nvPr/>
        </p:nvSpPr>
        <p:spPr>
          <a:xfrm>
            <a:off x="7665415" y="5879592"/>
            <a:ext cx="747370" cy="566928"/>
          </a:xfrm>
          <a:prstGeom prst="roundRect">
            <a:avLst>
              <a:gd name="adj" fmla="val 48387"/>
            </a:avLst>
          </a:prstGeom>
          <a:solidFill>
            <a:srgbClr val="F2A93B"/>
          </a:solidFill>
          <a:ln/>
        </p:spPr>
      </p:sp>
      <p:sp>
        <p:nvSpPr>
          <p:cNvPr id="38" name="Text 35"/>
          <p:cNvSpPr/>
          <p:nvPr/>
        </p:nvSpPr>
        <p:spPr>
          <a:xfrm>
            <a:off x="7653833" y="5879592"/>
            <a:ext cx="758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Re-index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595665" y="586130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fix is embedded and added to the archive</a:t>
            </a:r>
            <a:endParaRPr lang="en-US" sz="1080" dirty="0"/>
          </a:p>
        </p:txBody>
      </p:sp>
      <p:sp>
        <p:nvSpPr>
          <p:cNvPr id="40" name="Text 37"/>
          <p:cNvSpPr/>
          <p:nvPr/>
        </p:nvSpPr>
        <p:spPr>
          <a:xfrm>
            <a:off x="1164336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TECH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Modern, Testable Foundation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84778" cy="44805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942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30352" cy="530352"/>
          </a:xfrm>
          <a:prstGeom prst="ellipse">
            <a:avLst/>
          </a:prstGeom>
          <a:solidFill>
            <a:srgbClr val="0B2942"/>
          </a:solidFill>
          <a:ln/>
        </p:spPr>
      </p:sp>
      <p:pic>
        <p:nvPicPr>
          <p:cNvPr id="6" name="Image 0" descr="assets/server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56816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22960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284469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application entrypoint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SQLite persistence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services: prediction, embedding, similarity, recommendation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13+ unit &amp; integration Pytests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53458" y="1554480"/>
            <a:ext cx="3484778" cy="44805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942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7778" y="1828800"/>
            <a:ext cx="530352" cy="530352"/>
          </a:xfrm>
          <a:prstGeom prst="ellipse">
            <a:avLst/>
          </a:prstGeom>
          <a:solidFill>
            <a:srgbClr val="0B2942"/>
          </a:solidFill>
          <a:ln/>
        </p:spPr>
      </p:sp>
      <p:pic>
        <p:nvPicPr>
          <p:cNvPr id="11" name="Image 1" descr="assets/reac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794" y="195681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13578" y="1828800"/>
            <a:ext cx="22960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73498" y="2606040"/>
            <a:ext cx="284469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single-page app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component styling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Raise Complaint, Repair Resolution, Fleet, History pages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fetch API service layer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58277" y="1554480"/>
            <a:ext cx="3484778" cy="4480560"/>
          </a:xfrm>
          <a:prstGeom prst="roundRect">
            <a:avLst>
              <a:gd name="adj" fmla="val 209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942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2597" y="1828800"/>
            <a:ext cx="530352" cy="530352"/>
          </a:xfrm>
          <a:prstGeom prst="ellipse">
            <a:avLst/>
          </a:prstGeom>
          <a:solidFill>
            <a:srgbClr val="0B2942"/>
          </a:solidFill>
          <a:ln/>
        </p:spPr>
      </p:sp>
      <p:pic>
        <p:nvPicPr>
          <p:cNvPr id="16" name="Image 2" descr="assets/python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0613" y="195681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18397" y="1828800"/>
            <a:ext cx="22960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/ Data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78317" y="2606040"/>
            <a:ext cx="284469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classifiers &amp; regressors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 / TF-IDF embedding pipeline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Serialized model binaries (.pkl)</a:t>
            </a:r>
            <a:endParaRPr lang="en-US" sz="1150" dirty="0"/>
          </a:p>
          <a:p>
            <a:pPr marL="342900" indent="-342900">
              <a:lnSpc>
                <a:spcPct val="135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CSV-seeded SQLite training data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DATA SNAPSHOT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Behind the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7864" cy="1737360"/>
          </a:xfrm>
          <a:prstGeom prst="roundRect">
            <a:avLst>
              <a:gd name="adj" fmla="val 4211"/>
            </a:avLst>
          </a:prstGeom>
          <a:solidFill>
            <a:srgbClr val="12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56232"/>
            <a:ext cx="256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EA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in the organizational fleet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90824" y="1691640"/>
            <a:ext cx="2567864" cy="1737360"/>
          </a:xfrm>
          <a:prstGeom prst="roundRect">
            <a:avLst>
              <a:gd name="adj" fmla="val 4211"/>
            </a:avLst>
          </a:prstGeom>
          <a:solidFill>
            <a:srgbClr val="123A5C"/>
          </a:solidFill>
          <a:ln/>
        </p:spPr>
      </p:sp>
      <p:sp>
        <p:nvSpPr>
          <p:cNvPr id="8" name="Text 6"/>
          <p:cNvSpPr/>
          <p:nvPr/>
        </p:nvSpPr>
        <p:spPr>
          <a:xfrm>
            <a:off x="3390824" y="1856232"/>
            <a:ext cx="256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EA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573704" y="274320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repair records indexed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3008" y="1691640"/>
            <a:ext cx="2567864" cy="1737360"/>
          </a:xfrm>
          <a:prstGeom prst="roundRect">
            <a:avLst>
              <a:gd name="adj" fmla="val 4211"/>
            </a:avLst>
          </a:prstGeom>
          <a:solidFill>
            <a:srgbClr val="123A5C"/>
          </a:solidFill>
          <a:ln/>
        </p:spPr>
      </p:sp>
      <p:sp>
        <p:nvSpPr>
          <p:cNvPr id="11" name="Text 9"/>
          <p:cNvSpPr/>
          <p:nvPr/>
        </p:nvSpPr>
        <p:spPr>
          <a:xfrm>
            <a:off x="6233008" y="1856232"/>
            <a:ext cx="256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EA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15888" y="274320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fleet clusters (K-Means)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75191" y="1691640"/>
            <a:ext cx="2567864" cy="1737360"/>
          </a:xfrm>
          <a:prstGeom prst="roundRect">
            <a:avLst>
              <a:gd name="adj" fmla="val 4211"/>
            </a:avLst>
          </a:prstGeom>
          <a:solidFill>
            <a:srgbClr val="12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9075191" y="1856232"/>
            <a:ext cx="2567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EA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258071" y="274320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models in the pipeline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SEGMENTATION (K-MEANS)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2567864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" y="4498848"/>
            <a:ext cx="219456" cy="219456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425696"/>
            <a:ext cx="188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49808" y="4919472"/>
            <a:ext cx="2165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baseline operation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3390824" y="4297680"/>
            <a:ext cx="2567864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591992" y="4498848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3893744" y="4425696"/>
            <a:ext cx="188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High-Utilization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591992" y="4919472"/>
            <a:ext cx="2165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CPU / RAM load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233008" y="4297680"/>
            <a:ext cx="2567864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34176" y="4498848"/>
            <a:ext cx="219456" cy="219456"/>
          </a:xfrm>
          <a:prstGeom prst="ellipse">
            <a:avLst/>
          </a:prstGeom>
          <a:solidFill>
            <a:srgbClr val="E0654A"/>
          </a:solidFill>
          <a:ln/>
        </p:spPr>
      </p:sp>
      <p:sp>
        <p:nvSpPr>
          <p:cNvPr id="27" name="Text 25"/>
          <p:cNvSpPr/>
          <p:nvPr/>
        </p:nvSpPr>
        <p:spPr>
          <a:xfrm>
            <a:off x="6735928" y="4425696"/>
            <a:ext cx="188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Elevated-Thermal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34176" y="4919472"/>
            <a:ext cx="2165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trending high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9075191" y="4297680"/>
            <a:ext cx="2567864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276359" y="4498848"/>
            <a:ext cx="219456" cy="219456"/>
          </a:xfrm>
          <a:prstGeom prst="ellipse">
            <a:avLst/>
          </a:prstGeom>
          <a:solidFill>
            <a:srgbClr val="8B6FD6"/>
          </a:solidFill>
          <a:ln/>
        </p:spPr>
      </p:sp>
      <p:sp>
        <p:nvSpPr>
          <p:cNvPr id="31" name="Text 29"/>
          <p:cNvSpPr/>
          <p:nvPr/>
        </p:nvSpPr>
        <p:spPr>
          <a:xfrm>
            <a:off x="9578111" y="4425696"/>
            <a:ext cx="1882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Voltage-Instability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276359" y="4919472"/>
            <a:ext cx="2165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voltage readings</a:t>
            </a:r>
            <a:endParaRPr lang="en-US" sz="1030" dirty="0"/>
          </a:p>
        </p:txBody>
      </p:sp>
      <p:sp>
        <p:nvSpPr>
          <p:cNvPr id="33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DISCLOSURE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Demonstration, Real-World Pattern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199"/>
            <a:ext cx="6400800" cy="4715821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B2942">
                <a:alpha val="12000"/>
              </a:srgbClr>
            </a:outerShdw>
          </a:effectLst>
        </p:spPr>
      </p:sp>
      <p:pic>
        <p:nvPicPr>
          <p:cNvPr id="5" name="Image 0" descr="assets/check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65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Data Disclaimer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14400" y="26060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PC records, incident locations, departments, employee identities, telemetry metrics, and repair logs are synthetic and created purely for academic demonstration and simulation. They do not represent real-world incidents, infrastructure, operational failures, or assets of DRDO or any other organization.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5669280" cy="0"/>
          </a:xfrm>
          <a:prstGeom prst="line">
            <a:avLst/>
          </a:prstGeom>
          <a:noFill/>
          <a:ln w="12700">
            <a:solidFill>
              <a:srgbClr val="E3EB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389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43000" y="480060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 full closed-loop MLOps pattern: telemetry to inference to retrieval to feedback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structured sensor ML with unstructured NLP retrieval in one recommendation engine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reusable template for any organization managing distributed hardware fleets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69480" y="1600200"/>
            <a:ext cx="4343400" cy="4617720"/>
          </a:xfrm>
          <a:prstGeom prst="roundRect">
            <a:avLst>
              <a:gd name="adj" fmla="val 1684"/>
            </a:avLst>
          </a:prstGeom>
          <a:solidFill>
            <a:srgbClr val="0B2942"/>
          </a:solidFill>
          <a:ln/>
          <a:effectLst>
            <a:outerShdw blurRad="127000" dist="38100" dir="5400000" algn="bl" rotWithShape="0">
              <a:srgbClr val="0B2942">
                <a:alpha val="12000"/>
              </a:srgbClr>
            </a:outerShdw>
          </a:effectLst>
        </p:spPr>
      </p:sp>
      <p:pic>
        <p:nvPicPr>
          <p:cNvPr id="12" name="Image 1" descr="assets/project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20574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265176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at a Glance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7680960" y="3346704"/>
            <a:ext cx="128016" cy="128016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15" name="Text 11"/>
          <p:cNvSpPr/>
          <p:nvPr/>
        </p:nvSpPr>
        <p:spPr>
          <a:xfrm>
            <a:off x="7927848" y="3218688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backend/app — FastAPI, services, ML modules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680960" y="3913632"/>
            <a:ext cx="128016" cy="128016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17" name="Text 13"/>
          <p:cNvSpPr/>
          <p:nvPr/>
        </p:nvSpPr>
        <p:spPr>
          <a:xfrm>
            <a:off x="7927848" y="3785616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frontend/src — React pages &amp; components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680960" y="4480560"/>
            <a:ext cx="128016" cy="128016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19" name="Text 15"/>
          <p:cNvSpPr/>
          <p:nvPr/>
        </p:nvSpPr>
        <p:spPr>
          <a:xfrm>
            <a:off x="7927848" y="4352544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models/ — serialized regressors, classifiers, embeddings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7680960" y="5047488"/>
            <a:ext cx="128016" cy="128016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21" name="Text 17"/>
          <p:cNvSpPr/>
          <p:nvPr/>
        </p:nvSpPr>
        <p:spPr>
          <a:xfrm>
            <a:off x="7927848" y="4919472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organization_pcs.csv &amp; repair_history.csv — source data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7680960" y="5614416"/>
            <a:ext cx="128016" cy="128016"/>
          </a:xfrm>
          <a:prstGeom prst="ellipse">
            <a:avLst/>
          </a:prstGeom>
          <a:solidFill>
            <a:srgbClr val="0EA5A5"/>
          </a:solidFill>
          <a:ln/>
        </p:spPr>
      </p:sp>
      <p:sp>
        <p:nvSpPr>
          <p:cNvPr id="23" name="Text 19"/>
          <p:cNvSpPr/>
          <p:nvPr/>
        </p:nvSpPr>
        <p:spPr>
          <a:xfrm>
            <a:off x="7927848" y="54864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7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 &amp; seed_database.py — pipeline entrypoints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58189" y="3699165"/>
            <a:ext cx="1207562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Health Score Distribution</a:t>
            </a:r>
          </a:p>
          <a:p>
            <a:r>
              <a:rPr lang="en-US" dirty="0"/>
              <a:t>This histogram presents the distribution of machine health scores across the monitored equipment. The x-axis represents the health score, while the y-axis indicates the number of machines falling within each score range.</a:t>
            </a:r>
          </a:p>
          <a:p>
            <a:r>
              <a:rPr lang="en-US" b="1" dirty="0"/>
              <a:t>Key Observations: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distribution follows an approximately </a:t>
            </a:r>
            <a:r>
              <a:rPr lang="en-US" b="1" dirty="0"/>
              <a:t>bell-shaped (normal) pattern</a:t>
            </a:r>
            <a:r>
              <a:rPr lang="en-US" dirty="0"/>
              <a:t>, centered around a health score of </a:t>
            </a:r>
            <a:r>
              <a:rPr lang="en-US" b="1" dirty="0"/>
              <a:t>50–55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machines have health scores between </a:t>
            </a:r>
            <a:r>
              <a:rPr lang="en-US" b="1" dirty="0"/>
              <a:t>40 and 65</a:t>
            </a:r>
            <a:r>
              <a:rPr lang="en-US" dirty="0"/>
              <a:t>, indicating a generally stable operating condition. </a:t>
            </a:r>
          </a:p>
          <a:p>
            <a:r>
              <a:rPr lang="en-US" dirty="0"/>
              <a:t> </a:t>
            </a:r>
            <a:r>
              <a:rPr lang="en-US" dirty="0" smtClean="0"/>
              <a:t>     Very </a:t>
            </a:r>
            <a:r>
              <a:rPr lang="en-US" dirty="0"/>
              <a:t>low health scores (</a:t>
            </a:r>
            <a:r>
              <a:rPr lang="en-US" b="1" dirty="0"/>
              <a:t>below 20</a:t>
            </a:r>
            <a:r>
              <a:rPr lang="en-US" dirty="0"/>
              <a:t>) and very high health scores (</a:t>
            </a:r>
            <a:r>
              <a:rPr lang="en-US" b="1" dirty="0"/>
              <a:t>above 80</a:t>
            </a:r>
            <a:r>
              <a:rPr lang="en-US" dirty="0"/>
              <a:t>) occur less frequently.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smooth density curve highlights the overall trend and confirms that the majority of assets maintain moderate health levels.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balanced distribution suggests that the dataset contains a mix of healthy, moderately healthy, and potentially at-risk machines.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512"/>
            <a:ext cx="12192000" cy="333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36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58189" y="3699165"/>
            <a:ext cx="1207562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Health Score Distribution</a:t>
            </a:r>
          </a:p>
          <a:p>
            <a:r>
              <a:rPr lang="en-US" dirty="0"/>
              <a:t>This histogram presents the distribution of machine health scores across the monitored equipment. The x-axis represents the health score, while the y-axis indicates the number of machines falling within each score range.</a:t>
            </a:r>
          </a:p>
          <a:p>
            <a:r>
              <a:rPr lang="en-US" b="1" dirty="0"/>
              <a:t>Key Observations: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distribution follows an approximately </a:t>
            </a:r>
            <a:r>
              <a:rPr lang="en-US" b="1" dirty="0"/>
              <a:t>bell-shaped (normal) pattern</a:t>
            </a:r>
            <a:r>
              <a:rPr lang="en-US" dirty="0"/>
              <a:t>, centered around a health score of </a:t>
            </a:r>
            <a:r>
              <a:rPr lang="en-US" b="1" dirty="0"/>
              <a:t>50–55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machines have health scores between </a:t>
            </a:r>
            <a:r>
              <a:rPr lang="en-US" b="1" dirty="0"/>
              <a:t>40 and 65</a:t>
            </a:r>
            <a:r>
              <a:rPr lang="en-US" dirty="0"/>
              <a:t>, indicating a generally stable operating condition. </a:t>
            </a:r>
          </a:p>
          <a:p>
            <a:r>
              <a:rPr lang="en-US" dirty="0"/>
              <a:t> </a:t>
            </a:r>
            <a:r>
              <a:rPr lang="en-US" dirty="0" smtClean="0"/>
              <a:t>     Very </a:t>
            </a:r>
            <a:r>
              <a:rPr lang="en-US" dirty="0"/>
              <a:t>low health scores (</a:t>
            </a:r>
            <a:r>
              <a:rPr lang="en-US" b="1" dirty="0"/>
              <a:t>below 20</a:t>
            </a:r>
            <a:r>
              <a:rPr lang="en-US" dirty="0"/>
              <a:t>) and very high health scores (</a:t>
            </a:r>
            <a:r>
              <a:rPr lang="en-US" b="1" dirty="0"/>
              <a:t>above 80</a:t>
            </a:r>
            <a:r>
              <a:rPr lang="en-US" dirty="0"/>
              <a:t>) occur less frequently.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smooth density curve highlights the overall trend and confirms that the majority of assets maintain moderate health levels.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balanced distribution suggests that the dataset contains a mix of healthy, moderately healthy, and potentially at-risk machines.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0512"/>
            <a:ext cx="12192000" cy="333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15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116379" y="3832168"/>
            <a:ext cx="1207562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ROC Curve </a:t>
            </a:r>
            <a:r>
              <a:rPr lang="en-US" sz="1600" b="1" dirty="0" smtClean="0"/>
              <a:t>Analysis:</a:t>
            </a:r>
          </a:p>
          <a:p>
            <a:endParaRPr lang="en-US" sz="1600" b="1" dirty="0"/>
          </a:p>
          <a:p>
            <a:r>
              <a:rPr lang="en-US" sz="1600" dirty="0"/>
              <a:t>The Receiver Operating Characteristic (ROC) Curve evaluates the classification performance of the predictive maintenance model across multiple classes. It illustrates the relationship between the </a:t>
            </a:r>
            <a:r>
              <a:rPr lang="en-US" sz="1600" b="1" dirty="0"/>
              <a:t>True Positive Rate (Sensitivity)</a:t>
            </a:r>
            <a:r>
              <a:rPr lang="en-US" sz="1600" dirty="0"/>
              <a:t> and the </a:t>
            </a:r>
            <a:r>
              <a:rPr lang="en-US" sz="1600" b="1" dirty="0"/>
              <a:t>False Positive Rate</a:t>
            </a:r>
            <a:r>
              <a:rPr lang="en-US" sz="1600" dirty="0"/>
              <a:t> at various classification thresholds.</a:t>
            </a:r>
          </a:p>
          <a:p>
            <a:r>
              <a:rPr lang="en-US" sz="1600" b="1" dirty="0"/>
              <a:t>Key Observations</a:t>
            </a:r>
            <a:r>
              <a:rPr lang="en-US" sz="1600" b="1" dirty="0" smtClean="0"/>
              <a:t>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graph presents ROC curves for </a:t>
            </a:r>
            <a:r>
              <a:rPr lang="en-US" sz="1600" b="1" dirty="0"/>
              <a:t>five different classes (Class 0–4)</a:t>
            </a:r>
            <a:r>
              <a:rPr lang="en-US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Area Under the Curve (</a:t>
            </a:r>
            <a:r>
              <a:rPr lang="en-US" sz="1600" b="1" dirty="0"/>
              <a:t>AUC</a:t>
            </a:r>
            <a:r>
              <a:rPr lang="en-US" sz="1600" dirty="0"/>
              <a:t>) values range from </a:t>
            </a:r>
            <a:r>
              <a:rPr lang="en-US" sz="1600" b="1" dirty="0"/>
              <a:t>0.44 to 0.53</a:t>
            </a:r>
            <a:r>
              <a:rPr lang="en-US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Class 0</a:t>
            </a:r>
            <a:r>
              <a:rPr lang="en-US" sz="1600" dirty="0"/>
              <a:t> and </a:t>
            </a:r>
            <a:r>
              <a:rPr lang="en-US" sz="1600" b="1" dirty="0"/>
              <a:t>Class 2</a:t>
            </a:r>
            <a:r>
              <a:rPr lang="en-US" sz="1600" dirty="0"/>
              <a:t> achieve the highest AUC values (</a:t>
            </a:r>
            <a:r>
              <a:rPr lang="en-US" sz="1600" b="1" dirty="0"/>
              <a:t>0.53</a:t>
            </a:r>
            <a:r>
              <a:rPr lang="en-US" sz="1600" dirty="0"/>
              <a:t>), indicating slightly better discrimination performance than the other classes.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ROC curves remain close to the diagonal line, suggesting that the model's ability to distinguish between classes is currently limited</a:t>
            </a:r>
            <a:r>
              <a:rPr lang="en-US" sz="16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Classes </a:t>
            </a:r>
            <a:r>
              <a:rPr lang="en-US" sz="1600" b="1" dirty="0"/>
              <a:t>1, 3, and 4</a:t>
            </a:r>
            <a:r>
              <a:rPr lang="en-US" sz="1600" dirty="0"/>
              <a:t> have AUC values below </a:t>
            </a:r>
            <a:r>
              <a:rPr lang="en-US" sz="1600" b="1" dirty="0"/>
              <a:t>0.50</a:t>
            </a:r>
            <a:r>
              <a:rPr lang="en-US" sz="1600" dirty="0"/>
              <a:t>, indicating performance close to random classification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76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897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116379" y="3832168"/>
            <a:ext cx="1207562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SHAP Summary Analysis – Mean Absolute </a:t>
            </a:r>
            <a:r>
              <a:rPr lang="en-US" sz="1400" b="1" dirty="0" smtClean="0"/>
              <a:t>Impact:</a:t>
            </a:r>
          </a:p>
          <a:p>
            <a:endParaRPr lang="en-US" sz="1400" b="1" dirty="0"/>
          </a:p>
          <a:p>
            <a:r>
              <a:rPr lang="en-US" sz="1400" dirty="0"/>
              <a:t>This SHAP (</a:t>
            </a:r>
            <a:r>
              <a:rPr lang="en-US" sz="1400" dirty="0" err="1"/>
              <a:t>SHapley</a:t>
            </a:r>
            <a:r>
              <a:rPr lang="en-US" sz="1400" dirty="0"/>
              <a:t> Additive </a:t>
            </a:r>
            <a:r>
              <a:rPr lang="en-US" sz="1400" dirty="0" err="1"/>
              <a:t>exPlanations</a:t>
            </a:r>
            <a:r>
              <a:rPr lang="en-US" sz="1400" dirty="0"/>
              <a:t>) summary chart illustrates the relative importance of features used by the predictive maintenance model. The x-axis represents the </a:t>
            </a:r>
            <a:r>
              <a:rPr lang="en-US" sz="1400" b="1" dirty="0"/>
              <a:t>mean absolute SHAP value</a:t>
            </a:r>
            <a:r>
              <a:rPr lang="en-US" sz="1400" dirty="0"/>
              <a:t>, which indicates the average contribution of each feature to the model's predictions</a:t>
            </a:r>
            <a:r>
              <a:rPr lang="en-US" sz="1400" dirty="0" smtClean="0"/>
              <a:t>.</a:t>
            </a:r>
          </a:p>
          <a:p>
            <a:endParaRPr lang="en-US" sz="1400" dirty="0"/>
          </a:p>
          <a:p>
            <a:r>
              <a:rPr lang="en-US" sz="1400" b="1" dirty="0"/>
              <a:t>Key Observations</a:t>
            </a:r>
            <a:r>
              <a:rPr lang="en-US" sz="1400" b="1" dirty="0" smtClean="0"/>
              <a:t>: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Fan Speed</a:t>
            </a:r>
            <a:r>
              <a:rPr lang="en-US" sz="1400" dirty="0"/>
              <a:t> has the highest SHAP value, making it the most influential factor affecting the model’s predictions.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Disk Usage</a:t>
            </a:r>
            <a:r>
              <a:rPr lang="en-US" sz="1400" dirty="0"/>
              <a:t> and </a:t>
            </a:r>
            <a:r>
              <a:rPr lang="en-US" sz="1400" b="1" dirty="0"/>
              <a:t>Temperature</a:t>
            </a:r>
            <a:r>
              <a:rPr lang="en-US" sz="1400" dirty="0"/>
              <a:t> are the next most significant features, highlighting the importance of system workload and thermal conditions.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RAM Usage</a:t>
            </a:r>
            <a:r>
              <a:rPr lang="en-US" sz="1400" dirty="0"/>
              <a:t> and </a:t>
            </a:r>
            <a:r>
              <a:rPr lang="en-US" sz="1400" b="1" dirty="0"/>
              <a:t>Disk Load Factor</a:t>
            </a:r>
            <a:r>
              <a:rPr lang="en-US" sz="1400" dirty="0"/>
              <a:t> also contribute substantially, indicating that memory and storage performance impact system health predictions.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Features such as </a:t>
            </a:r>
            <a:r>
              <a:rPr lang="en-US" sz="1400" b="1" dirty="0"/>
              <a:t>Voltage Stability</a:t>
            </a:r>
            <a:r>
              <a:rPr lang="en-US" sz="1400" dirty="0"/>
              <a:t>, </a:t>
            </a:r>
            <a:r>
              <a:rPr lang="en-US" sz="1400" b="1" dirty="0"/>
              <a:t>Voltage-Thermal Interaction</a:t>
            </a:r>
            <a:r>
              <a:rPr lang="en-US" sz="1400" dirty="0"/>
              <a:t>, and </a:t>
            </a:r>
            <a:r>
              <a:rPr lang="en-US" sz="1400" b="1" dirty="0"/>
              <a:t>Thermal Stress</a:t>
            </a:r>
            <a:r>
              <a:rPr lang="en-US" sz="1400" dirty="0"/>
              <a:t> show moderate influence on the model's decision-making process</a:t>
            </a:r>
            <a:r>
              <a:rPr lang="en-US" sz="14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CPU Usage</a:t>
            </a:r>
            <a:r>
              <a:rPr lang="en-US" sz="1400" dirty="0"/>
              <a:t>, </a:t>
            </a:r>
            <a:r>
              <a:rPr lang="en-US" sz="1400" b="1" dirty="0"/>
              <a:t>Memory Pressure</a:t>
            </a:r>
            <a:r>
              <a:rPr lang="en-US" sz="1400" dirty="0"/>
              <a:t>, </a:t>
            </a:r>
            <a:r>
              <a:rPr lang="en-US" sz="1400" b="1" dirty="0"/>
              <a:t>Fan Stress</a:t>
            </a:r>
            <a:r>
              <a:rPr lang="en-US" sz="1400" dirty="0"/>
              <a:t>, and </a:t>
            </a:r>
            <a:r>
              <a:rPr lang="en-US" sz="1400" b="1" dirty="0"/>
              <a:t>Cooling Efficiency</a:t>
            </a:r>
            <a:r>
              <a:rPr lang="en-US" sz="1400" dirty="0"/>
              <a:t> have comparatively lower impacts but still contribute to prediction outcomes.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83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953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1389</Words>
  <Application>Microsoft Office PowerPoint</Application>
  <PresentationFormat>Widescreen</PresentationFormat>
  <Paragraphs>196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AI-PC Predictive Maintenance Ecosystem</dc:title>
  <dc:subject>PptxGenJS Presentation</dc:subject>
  <dc:creator>AI-PC Predictive Maintenance Ecosystem</dc:creator>
  <cp:lastModifiedBy>Microsoft account</cp:lastModifiedBy>
  <cp:revision>6</cp:revision>
  <dcterms:created xsi:type="dcterms:W3CDTF">2026-07-09T14:26:06Z</dcterms:created>
  <dcterms:modified xsi:type="dcterms:W3CDTF">2026-07-09T18:32:52Z</dcterms:modified>
</cp:coreProperties>
</file>